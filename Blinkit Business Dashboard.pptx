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9144000" cx="16256000"/>
  <p:notesSz cx="9144000" cy="16256000"/>
  <p:embeddedFontLst>
    <p:embeddedFont>
      <p:font typeface="Liter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iter-regular.fnt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5rwapbky7jfau/mnt/agents/images/2_Digital_Financial_Data_Dashboard.png" id="17" name="Google Shape;17;p4"/>
          <p:cNvPicPr preferRelativeResize="0"/>
          <p:nvPr/>
        </p:nvPicPr>
        <p:blipFill rotWithShape="1">
          <a:blip r:embed="rId3">
            <a:alphaModFix/>
          </a:blip>
          <a:srcRect b="982" l="0" r="0" t="982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>
            <a:gsLst>
              <a:gs pos="0">
                <a:srgbClr val="0B0F19">
                  <a:alpha val="90196"/>
                </a:srgbClr>
              </a:gs>
              <a:gs pos="50000">
                <a:srgbClr val="0B0F19">
                  <a:alpha val="80000"/>
                </a:srgbClr>
              </a:gs>
              <a:gs pos="100000">
                <a:srgbClr val="0B0F19">
                  <a:alpha val="94901"/>
                </a:srgbClr>
              </a:gs>
            </a:gsLst>
            <a:lin ang="5400000" scaled="0"/>
          </a:gra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1016000" y="2286000"/>
            <a:ext cx="8890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Blinkit Business Dashboard</a:t>
            </a:r>
            <a:endParaRPr b="0" i="0" sz="3600" u="none" cap="none" strike="noStrike"/>
          </a:p>
        </p:txBody>
      </p:sp>
      <p:sp>
        <p:nvSpPr>
          <p:cNvPr id="20" name="Google Shape;20;p4"/>
          <p:cNvSpPr/>
          <p:nvPr/>
        </p:nvSpPr>
        <p:spPr>
          <a:xfrm>
            <a:off x="1016000" y="3429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Power BI Case Study — Sales, Outlet Performance &amp; CSAT</a:t>
            </a:r>
            <a:endParaRPr b="0" i="0" sz="2000" u="none" cap="none" strike="noStrike"/>
          </a:p>
        </p:txBody>
      </p:sp>
      <p:sp>
        <p:nvSpPr>
          <p:cNvPr id="21" name="Google Shape;21;p4"/>
          <p:cNvSpPr/>
          <p:nvPr/>
        </p:nvSpPr>
        <p:spPr>
          <a:xfrm>
            <a:off x="1016000" y="4191000"/>
            <a:ext cx="101600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1016000" y="7874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B8A6"/>
                </a:solidFill>
                <a:latin typeface="Liter"/>
                <a:ea typeface="Liter"/>
                <a:cs typeface="Liter"/>
                <a:sym typeface="Liter"/>
              </a:rPr>
              <a:t>MENTOR REVIEW | n pratyusha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What This Dashboard Enables</a:t>
            </a:r>
            <a:endParaRPr b="0" i="0" sz="3600" u="none" cap="none" strike="noStrike"/>
          </a:p>
        </p:txBody>
      </p:sp>
      <p:sp>
        <p:nvSpPr>
          <p:cNvPr id="29" name="Google Shape;29;p5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762000" y="1651000"/>
            <a:ext cx="53340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This is a </a:t>
            </a:r>
            <a:r>
              <a:rPr b="1" i="0" lang="en-US" sz="1800" u="none" cap="none" strike="noStrike">
                <a:solidFill>
                  <a:srgbClr val="14B8A6"/>
                </a:solidFill>
                <a:latin typeface="Liter"/>
                <a:ea typeface="Liter"/>
                <a:cs typeface="Liter"/>
                <a:sym typeface="Liter"/>
              </a:rPr>
              <a:t>decision dashboard</a:t>
            </a: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, designed for action rather than just viewing metrics. It connects item attributes and outlet characteristics to profitability and customer satisfaction.</a:t>
            </a:r>
            <a:endParaRPr b="0" i="0" sz="1800" u="none" cap="none" strike="noStrike"/>
          </a:p>
        </p:txBody>
      </p:sp>
      <p:sp>
        <p:nvSpPr>
          <p:cNvPr id="31" name="Google Shape;31;p5"/>
          <p:cNvSpPr/>
          <p:nvPr/>
        </p:nvSpPr>
        <p:spPr>
          <a:xfrm>
            <a:off x="6604000" y="1651000"/>
            <a:ext cx="4318000" cy="3048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6858000" y="1905000"/>
            <a:ext cx="457200" cy="457200"/>
          </a:xfrm>
          <a:prstGeom prst="roundRect">
            <a:avLst>
              <a:gd fmla="val 8000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6858000" y="1905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b="0" i="0" sz="1600" u="none" cap="none" strike="noStrike"/>
          </a:p>
        </p:txBody>
      </p:sp>
      <p:sp>
        <p:nvSpPr>
          <p:cNvPr id="34" name="Google Shape;34;p5"/>
          <p:cNvSpPr/>
          <p:nvPr/>
        </p:nvSpPr>
        <p:spPr>
          <a:xfrm>
            <a:off x="6858000" y="254000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Track revenue and CSAT health</a:t>
            </a:r>
            <a:r>
              <a:rPr b="0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 at a single glance.</a:t>
            </a:r>
            <a:endParaRPr b="0" i="0" sz="1600" u="none" cap="none" strike="noStrike"/>
          </a:p>
        </p:txBody>
      </p:sp>
      <p:sp>
        <p:nvSpPr>
          <p:cNvPr id="35" name="Google Shape;35;p5"/>
          <p:cNvSpPr/>
          <p:nvPr/>
        </p:nvSpPr>
        <p:spPr>
          <a:xfrm>
            <a:off x="11176000" y="1651000"/>
            <a:ext cx="4318000" cy="3048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11430000" y="1905000"/>
            <a:ext cx="457200" cy="457200"/>
          </a:xfrm>
          <a:prstGeom prst="roundRect">
            <a:avLst>
              <a:gd fmla="val 8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11430000" y="1905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b="0" i="0" sz="1600" u="none" cap="none" strike="noStrike"/>
          </a:p>
        </p:txBody>
      </p:sp>
      <p:sp>
        <p:nvSpPr>
          <p:cNvPr id="38" name="Google Shape;38;p5"/>
          <p:cNvSpPr/>
          <p:nvPr/>
        </p:nvSpPr>
        <p:spPr>
          <a:xfrm>
            <a:off x="11430000" y="254000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Diagnose segment performance</a:t>
            </a:r>
            <a:r>
              <a:rPr b="0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 by Tier and Outlet Type.</a:t>
            </a:r>
            <a:endParaRPr b="0" i="0" sz="1600" u="none" cap="none" strike="noStrike"/>
          </a:p>
        </p:txBody>
      </p:sp>
      <p:sp>
        <p:nvSpPr>
          <p:cNvPr id="39" name="Google Shape;39;p5"/>
          <p:cNvSpPr/>
          <p:nvPr/>
        </p:nvSpPr>
        <p:spPr>
          <a:xfrm>
            <a:off x="6604000" y="5080000"/>
            <a:ext cx="4318000" cy="3048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6858000" y="5334000"/>
            <a:ext cx="457200" cy="457200"/>
          </a:xfrm>
          <a:prstGeom prst="roundRect">
            <a:avLst>
              <a:gd fmla="val 8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6858000" y="5334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1600" u="none" cap="none" strike="noStrike"/>
          </a:p>
        </p:txBody>
      </p:sp>
      <p:sp>
        <p:nvSpPr>
          <p:cNvPr id="42" name="Google Shape;42;p5"/>
          <p:cNvSpPr/>
          <p:nvPr/>
        </p:nvSpPr>
        <p:spPr>
          <a:xfrm>
            <a:off x="6858000" y="596900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Identify underperformers</a:t>
            </a:r>
            <a:r>
              <a:rPr b="0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 (e.g., high visibility, low sales).</a:t>
            </a:r>
            <a:endParaRPr b="0" i="0" sz="1600" u="none" cap="none" strike="noStrike"/>
          </a:p>
        </p:txBody>
      </p:sp>
      <p:sp>
        <p:nvSpPr>
          <p:cNvPr id="43" name="Google Shape;43;p5"/>
          <p:cNvSpPr/>
          <p:nvPr/>
        </p:nvSpPr>
        <p:spPr>
          <a:xfrm>
            <a:off x="11176000" y="5080000"/>
            <a:ext cx="4318000" cy="3048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11430000" y="5334000"/>
            <a:ext cx="457200" cy="457200"/>
          </a:xfrm>
          <a:prstGeom prst="roundRect">
            <a:avLst>
              <a:gd fmla="val 8000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11430000" y="5334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b="0" i="0" sz="1600" u="none" cap="none" strike="noStrike"/>
          </a:p>
        </p:txBody>
      </p:sp>
      <p:sp>
        <p:nvSpPr>
          <p:cNvPr id="46" name="Google Shape;46;p5"/>
          <p:cNvSpPr/>
          <p:nvPr/>
        </p:nvSpPr>
        <p:spPr>
          <a:xfrm>
            <a:off x="11430000" y="596900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Enable drill-through</a:t>
            </a:r>
            <a:r>
              <a:rPr b="0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 for outlet or item-level actions.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The Business Problem</a:t>
            </a:r>
            <a:endParaRPr b="0" i="0" sz="3600" u="none" cap="none" strike="noStrike"/>
          </a:p>
        </p:txBody>
      </p:sp>
      <p:sp>
        <p:nvSpPr>
          <p:cNvPr id="53" name="Google Shape;53;p6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762000" y="1524000"/>
            <a:ext cx="7874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Goal:</a:t>
            </a: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 Identify improvement areas in profitability, product availability, and operational efficiency.</a:t>
            </a:r>
            <a:endParaRPr b="0" i="0" sz="1600" u="none" cap="none" strike="noStrike"/>
          </a:p>
        </p:txBody>
      </p:sp>
      <p:sp>
        <p:nvSpPr>
          <p:cNvPr id="55" name="Google Shape;55;p6"/>
          <p:cNvSpPr/>
          <p:nvPr/>
        </p:nvSpPr>
        <p:spPr>
          <a:xfrm>
            <a:off x="762000" y="2667000"/>
            <a:ext cx="304800" cy="30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1219200" y="26162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Underperforming Categories</a:t>
            </a:r>
            <a:endParaRPr b="0" i="0" sz="1600" u="none" cap="none" strike="noStrike"/>
          </a:p>
        </p:txBody>
      </p:sp>
      <p:sp>
        <p:nvSpPr>
          <p:cNvPr id="57" name="Google Shape;57;p6"/>
          <p:cNvSpPr/>
          <p:nvPr/>
        </p:nvSpPr>
        <p:spPr>
          <a:xfrm>
            <a:off x="1219200" y="30480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Some products miss sales targets despite demand.</a:t>
            </a:r>
            <a:endParaRPr b="0" i="0" sz="1600" u="none" cap="none" strike="noStrike"/>
          </a:p>
        </p:txBody>
      </p:sp>
      <p:sp>
        <p:nvSpPr>
          <p:cNvPr id="58" name="Google Shape;58;p6"/>
          <p:cNvSpPr/>
          <p:nvPr/>
        </p:nvSpPr>
        <p:spPr>
          <a:xfrm>
            <a:off x="762000" y="3937000"/>
            <a:ext cx="304800" cy="3048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1219200" y="38862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Outlet Variation</a:t>
            </a:r>
            <a:endParaRPr b="0" i="0" sz="1600" u="none" cap="none" strike="noStrike"/>
          </a:p>
        </p:txBody>
      </p:sp>
      <p:sp>
        <p:nvSpPr>
          <p:cNvPr id="60" name="Google Shape;60;p6"/>
          <p:cNvSpPr/>
          <p:nvPr/>
        </p:nvSpPr>
        <p:spPr>
          <a:xfrm>
            <a:off x="1219200" y="43180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Performance fluctuates heavily across Tier 1, 2, and 3.</a:t>
            </a:r>
            <a:endParaRPr b="0" i="0" sz="1600" u="none" cap="none" strike="noStrike"/>
          </a:p>
        </p:txBody>
      </p:sp>
      <p:sp>
        <p:nvSpPr>
          <p:cNvPr id="61" name="Google Shape;61;p6"/>
          <p:cNvSpPr/>
          <p:nvPr/>
        </p:nvSpPr>
        <p:spPr>
          <a:xfrm>
            <a:off x="762000" y="5207000"/>
            <a:ext cx="304800" cy="30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1219200" y="51562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Sales Drivers</a:t>
            </a:r>
            <a:endParaRPr b="0" i="0" sz="1600" u="none" cap="none" strike="noStrike"/>
          </a:p>
        </p:txBody>
      </p:sp>
      <p:sp>
        <p:nvSpPr>
          <p:cNvPr id="63" name="Google Shape;63;p6"/>
          <p:cNvSpPr/>
          <p:nvPr/>
        </p:nvSpPr>
        <p:spPr>
          <a:xfrm>
            <a:off x="1219200" y="55880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Impact of item visibility and fat content is unclear.</a:t>
            </a:r>
            <a:endParaRPr b="0" i="0" sz="1600" u="none" cap="none" strike="noStrike"/>
          </a:p>
        </p:txBody>
      </p:sp>
      <p:sp>
        <p:nvSpPr>
          <p:cNvPr id="64" name="Google Shape;64;p6"/>
          <p:cNvSpPr/>
          <p:nvPr/>
        </p:nvSpPr>
        <p:spPr>
          <a:xfrm>
            <a:off x="762000" y="6477000"/>
            <a:ext cx="304800" cy="3048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1219200" y="64262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CSAT Monitoring</a:t>
            </a:r>
            <a:endParaRPr b="0" i="0" sz="1600" u="none" cap="none" strike="noStrike"/>
          </a:p>
        </p:txBody>
      </p:sp>
      <p:sp>
        <p:nvSpPr>
          <p:cNvPr id="66" name="Google Shape;66;p6"/>
          <p:cNvSpPr/>
          <p:nvPr/>
        </p:nvSpPr>
        <p:spPr>
          <a:xfrm>
            <a:off x="1219200" y="68580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Customer satisfaction isn't tied to specific segments.</a:t>
            </a:r>
            <a:endParaRPr b="0" i="0" sz="1600" u="none" cap="none" strike="noStrike"/>
          </a:p>
        </p:txBody>
      </p:sp>
      <p:pic>
        <p:nvPicPr>
          <p:cNvPr descr="https://kimi-img.moonshot.cn/pub/slides/okc/5rwapbky7jfau/mnt/agents/images/1_Night_Food_Delivery_Motorcycle_Rider.png" id="67" name="Google Shape;67;p6"/>
          <p:cNvPicPr preferRelativeResize="0"/>
          <p:nvPr/>
        </p:nvPicPr>
        <p:blipFill rotWithShape="1">
          <a:blip r:embed="rId3">
            <a:alphaModFix/>
          </a:blip>
          <a:srcRect b="0" l="20247" r="20247" t="0"/>
          <a:stretch/>
        </p:blipFill>
        <p:spPr>
          <a:xfrm>
            <a:off x="9144000" y="1524000"/>
            <a:ext cx="6350000" cy="60960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/>
        </p:nvSpPr>
        <p:spPr>
          <a:xfrm>
            <a:off x="762000" y="508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Dataset Snapshot: Connecting Causes to Outcomes</a:t>
            </a:r>
            <a:endParaRPr b="0" i="0" sz="3600" u="none" cap="none" strike="noStrike"/>
          </a:p>
        </p:txBody>
      </p:sp>
      <p:sp>
        <p:nvSpPr>
          <p:cNvPr id="74" name="Google Shape;74;p7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762000" y="1778000"/>
            <a:ext cx="4318000" cy="6096000"/>
          </a:xfrm>
          <a:prstGeom prst="roundRect">
            <a:avLst>
              <a:gd fmla="val 6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1016000" y="20320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4B8A6"/>
                </a:solidFill>
                <a:latin typeface="Liter"/>
                <a:ea typeface="Liter"/>
                <a:cs typeface="Liter"/>
                <a:sym typeface="Liter"/>
              </a:rPr>
              <a:t>Item Attributes</a:t>
            </a:r>
            <a:endParaRPr b="0" i="0" sz="1600" u="none" cap="none" strike="noStrike"/>
          </a:p>
        </p:txBody>
      </p:sp>
      <p:sp>
        <p:nvSpPr>
          <p:cNvPr id="77" name="Google Shape;77;p7"/>
          <p:cNvSpPr/>
          <p:nvPr/>
        </p:nvSpPr>
        <p:spPr>
          <a:xfrm>
            <a:off x="1016000" y="2667000"/>
            <a:ext cx="3810000" cy="127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1016000" y="2921000"/>
            <a:ext cx="381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Identifier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Type / Category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Fat Content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Visibility (%)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Weight</a:t>
            </a:r>
            <a:endParaRPr b="0" i="0" sz="1600" u="none" cap="none" strike="noStrike"/>
          </a:p>
        </p:txBody>
      </p:sp>
      <p:cxnSp>
        <p:nvCxnSpPr>
          <p:cNvPr id="79" name="Google Shape;79;p7"/>
          <p:cNvCxnSpPr/>
          <p:nvPr/>
        </p:nvCxnSpPr>
        <p:spPr>
          <a:xfrm>
            <a:off x="5270500" y="4445000"/>
            <a:ext cx="635000" cy="0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0" name="Google Shape;80;p7"/>
          <p:cNvSpPr/>
          <p:nvPr/>
        </p:nvSpPr>
        <p:spPr>
          <a:xfrm>
            <a:off x="6032500" y="1778000"/>
            <a:ext cx="4191000" cy="6096000"/>
          </a:xfrm>
          <a:prstGeom prst="roundRect">
            <a:avLst>
              <a:gd fmla="val 6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6286500" y="2032000"/>
            <a:ext cx="3683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6B6D4"/>
                </a:solidFill>
                <a:latin typeface="Liter"/>
                <a:ea typeface="Liter"/>
                <a:cs typeface="Liter"/>
                <a:sym typeface="Liter"/>
              </a:rPr>
              <a:t>Outcomes</a:t>
            </a:r>
            <a:endParaRPr b="0" i="0" sz="1600" u="none" cap="none" strike="noStrike"/>
          </a:p>
        </p:txBody>
      </p:sp>
      <p:sp>
        <p:nvSpPr>
          <p:cNvPr id="82" name="Google Shape;82;p7"/>
          <p:cNvSpPr/>
          <p:nvPr/>
        </p:nvSpPr>
        <p:spPr>
          <a:xfrm>
            <a:off x="6286500" y="2667000"/>
            <a:ext cx="3683000" cy="127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6286500" y="2921000"/>
            <a:ext cx="3683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Total Sales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Customer Rating</a:t>
            </a:r>
            <a:endParaRPr b="0" i="0" sz="1600" u="none" cap="none" strike="noStrike"/>
          </a:p>
        </p:txBody>
      </p:sp>
      <p:cxnSp>
        <p:nvCxnSpPr>
          <p:cNvPr id="84" name="Google Shape;84;p7"/>
          <p:cNvCxnSpPr/>
          <p:nvPr/>
        </p:nvCxnSpPr>
        <p:spPr>
          <a:xfrm>
            <a:off x="10350500" y="4445000"/>
            <a:ext cx="635000" cy="0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85" name="Google Shape;85;p7"/>
          <p:cNvSpPr/>
          <p:nvPr/>
        </p:nvSpPr>
        <p:spPr>
          <a:xfrm>
            <a:off x="11176000" y="1778000"/>
            <a:ext cx="4318000" cy="6096000"/>
          </a:xfrm>
          <a:prstGeom prst="roundRect">
            <a:avLst>
              <a:gd fmla="val 6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11430000" y="20320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B5CF6"/>
                </a:solidFill>
                <a:latin typeface="Liter"/>
                <a:ea typeface="Liter"/>
                <a:cs typeface="Liter"/>
                <a:sym typeface="Liter"/>
              </a:rPr>
              <a:t>Outlet Attributes</a:t>
            </a:r>
            <a:endParaRPr b="0" i="0" sz="1600" u="none" cap="none" strike="noStrike"/>
          </a:p>
        </p:txBody>
      </p:sp>
      <p:sp>
        <p:nvSpPr>
          <p:cNvPr id="87" name="Google Shape;87;p7"/>
          <p:cNvSpPr/>
          <p:nvPr/>
        </p:nvSpPr>
        <p:spPr>
          <a:xfrm>
            <a:off x="11430000" y="2667000"/>
            <a:ext cx="3810000" cy="127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11430000" y="2921000"/>
            <a:ext cx="381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Identifier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Tier (1, 2, 3)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Size (Small, Med, High)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Format (Store/Supermarket)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Established Year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Data Transformation</a:t>
            </a:r>
            <a:endParaRPr b="0" i="0" sz="3600" u="none" cap="none" strike="noStrike"/>
          </a:p>
        </p:txBody>
      </p:sp>
      <p:sp>
        <p:nvSpPr>
          <p:cNvPr id="95" name="Google Shape;95;p8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762000" y="14605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Clean data ensures accurate aggregations and consistent slicing in the dashboard.</a:t>
            </a:r>
            <a:endParaRPr b="0" i="0" sz="2000" u="none" cap="none" strike="noStrike"/>
          </a:p>
        </p:txBody>
      </p:sp>
      <p:sp>
        <p:nvSpPr>
          <p:cNvPr id="97" name="Google Shape;97;p8"/>
          <p:cNvSpPr/>
          <p:nvPr/>
        </p:nvSpPr>
        <p:spPr>
          <a:xfrm>
            <a:off x="762000" y="2286000"/>
            <a:ext cx="3302000" cy="4064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1016000" y="2540000"/>
            <a:ext cx="1016000" cy="406400"/>
          </a:xfrm>
          <a:prstGeom prst="roundRect">
            <a:avLst>
              <a:gd fmla="val 12000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1016000" y="2540000"/>
            <a:ext cx="1016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01.</a:t>
            </a:r>
            <a:endParaRPr b="0" i="0" sz="1600" u="none" cap="none" strike="noStrike"/>
          </a:p>
        </p:txBody>
      </p:sp>
      <p:sp>
        <p:nvSpPr>
          <p:cNvPr id="100" name="Google Shape;100;p8"/>
          <p:cNvSpPr/>
          <p:nvPr/>
        </p:nvSpPr>
        <p:spPr>
          <a:xfrm>
            <a:off x="1016000" y="31750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Impute</a:t>
            </a:r>
            <a:endParaRPr b="0" i="0" sz="1600" u="none" cap="none" strike="noStrike"/>
          </a:p>
        </p:txBody>
      </p:sp>
      <p:sp>
        <p:nvSpPr>
          <p:cNvPr id="101" name="Google Shape;101;p8"/>
          <p:cNvSpPr/>
          <p:nvPr/>
        </p:nvSpPr>
        <p:spPr>
          <a:xfrm>
            <a:off x="1016000" y="3683000"/>
            <a:ext cx="27940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Handle missing values in Sales, Weight, and Fat Content.</a:t>
            </a:r>
            <a:endParaRPr b="0" i="0" sz="1600" u="none" cap="none" strike="noStrike"/>
          </a:p>
        </p:txBody>
      </p:sp>
      <p:cxnSp>
        <p:nvCxnSpPr>
          <p:cNvPr id="102" name="Google Shape;102;p8"/>
          <p:cNvCxnSpPr/>
          <p:nvPr/>
        </p:nvCxnSpPr>
        <p:spPr>
          <a:xfrm>
            <a:off x="4191000" y="4191000"/>
            <a:ext cx="508000" cy="0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3" name="Google Shape;103;p8"/>
          <p:cNvSpPr/>
          <p:nvPr/>
        </p:nvSpPr>
        <p:spPr>
          <a:xfrm>
            <a:off x="4826000" y="2286000"/>
            <a:ext cx="3302000" cy="4064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5080000" y="2540000"/>
            <a:ext cx="1016000" cy="406400"/>
          </a:xfrm>
          <a:prstGeom prst="roundRect">
            <a:avLst>
              <a:gd fmla="val 12000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5080000" y="2540000"/>
            <a:ext cx="1016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02.</a:t>
            </a:r>
            <a:endParaRPr b="0" i="0" sz="1600" u="none" cap="none" strike="noStrike"/>
          </a:p>
        </p:txBody>
      </p:sp>
      <p:sp>
        <p:nvSpPr>
          <p:cNvPr id="106" name="Google Shape;106;p8"/>
          <p:cNvSpPr/>
          <p:nvPr/>
        </p:nvSpPr>
        <p:spPr>
          <a:xfrm>
            <a:off x="5080000" y="31750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Standardize</a:t>
            </a:r>
            <a:endParaRPr b="0" i="0" sz="1600" u="none" cap="none" strike="noStrike"/>
          </a:p>
        </p:txBody>
      </p:sp>
      <p:sp>
        <p:nvSpPr>
          <p:cNvPr id="107" name="Google Shape;107;p8"/>
          <p:cNvSpPr/>
          <p:nvPr/>
        </p:nvSpPr>
        <p:spPr>
          <a:xfrm>
            <a:off x="5080000" y="3683000"/>
            <a:ext cx="2794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Clean text categories (e.g., "LF", "low Fat" → "Low Fat").</a:t>
            </a:r>
            <a:endParaRPr b="0" i="0" sz="1600" u="none" cap="none" strike="noStrike"/>
          </a:p>
        </p:txBody>
      </p:sp>
      <p:cxnSp>
        <p:nvCxnSpPr>
          <p:cNvPr id="108" name="Google Shape;108;p8"/>
          <p:cNvCxnSpPr/>
          <p:nvPr/>
        </p:nvCxnSpPr>
        <p:spPr>
          <a:xfrm>
            <a:off x="8255000" y="4191000"/>
            <a:ext cx="508000" cy="0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9" name="Google Shape;109;p8"/>
          <p:cNvSpPr/>
          <p:nvPr/>
        </p:nvSpPr>
        <p:spPr>
          <a:xfrm>
            <a:off x="8890000" y="2286000"/>
            <a:ext cx="3302000" cy="4064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9144000" y="2540000"/>
            <a:ext cx="1016000" cy="406400"/>
          </a:xfrm>
          <a:prstGeom prst="roundRect">
            <a:avLst>
              <a:gd fmla="val 12000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9144000" y="2540000"/>
            <a:ext cx="1016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03.</a:t>
            </a:r>
            <a:endParaRPr b="0" i="0" sz="1600" u="none" cap="none" strike="noStrike"/>
          </a:p>
        </p:txBody>
      </p:sp>
      <p:sp>
        <p:nvSpPr>
          <p:cNvPr id="112" name="Google Shape;112;p8"/>
          <p:cNvSpPr/>
          <p:nvPr/>
        </p:nvSpPr>
        <p:spPr>
          <a:xfrm>
            <a:off x="9144000" y="31750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Types</a:t>
            </a:r>
            <a:endParaRPr b="0" i="0" sz="1600" u="none" cap="none" strike="noStrike"/>
          </a:p>
        </p:txBody>
      </p:sp>
      <p:sp>
        <p:nvSpPr>
          <p:cNvPr id="113" name="Google Shape;113;p8"/>
          <p:cNvSpPr/>
          <p:nvPr/>
        </p:nvSpPr>
        <p:spPr>
          <a:xfrm>
            <a:off x="9144000" y="3683000"/>
            <a:ext cx="27940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Fix data types (Decimals for Sales/Rating, Numeric for Weight).</a:t>
            </a:r>
            <a:endParaRPr b="0" i="0" sz="1600" u="none" cap="none" strike="noStrike"/>
          </a:p>
        </p:txBody>
      </p:sp>
      <p:cxnSp>
        <p:nvCxnSpPr>
          <p:cNvPr id="114" name="Google Shape;114;p8"/>
          <p:cNvCxnSpPr/>
          <p:nvPr/>
        </p:nvCxnSpPr>
        <p:spPr>
          <a:xfrm>
            <a:off x="12319000" y="4191000"/>
            <a:ext cx="508000" cy="0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5" name="Google Shape;115;p8"/>
          <p:cNvSpPr/>
          <p:nvPr/>
        </p:nvSpPr>
        <p:spPr>
          <a:xfrm>
            <a:off x="12954000" y="2286000"/>
            <a:ext cx="2540000" cy="4064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13208000" y="2540000"/>
            <a:ext cx="1016000" cy="406400"/>
          </a:xfrm>
          <a:prstGeom prst="roundRect">
            <a:avLst>
              <a:gd fmla="val 12000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13208000" y="2540000"/>
            <a:ext cx="1016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04.</a:t>
            </a:r>
            <a:endParaRPr b="0" i="0" sz="1600" u="none" cap="none" strike="noStrike"/>
          </a:p>
        </p:txBody>
      </p:sp>
      <p:sp>
        <p:nvSpPr>
          <p:cNvPr id="118" name="Google Shape;118;p8"/>
          <p:cNvSpPr/>
          <p:nvPr/>
        </p:nvSpPr>
        <p:spPr>
          <a:xfrm>
            <a:off x="13208000" y="3175000"/>
            <a:ext cx="203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Derive</a:t>
            </a:r>
            <a:endParaRPr b="0" i="0" sz="1600" u="none" cap="none" strike="noStrike"/>
          </a:p>
        </p:txBody>
      </p:sp>
      <p:sp>
        <p:nvSpPr>
          <p:cNvPr id="119" name="Google Shape;119;p8"/>
          <p:cNvSpPr/>
          <p:nvPr/>
        </p:nvSpPr>
        <p:spPr>
          <a:xfrm>
            <a:off x="13208000" y="3683000"/>
            <a:ext cx="20320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Create 'Sales per Kg' &amp; 'Years of Operation'.</a:t>
            </a:r>
            <a:endParaRPr b="0" i="0" sz="1600" u="none" cap="none" strike="noStrike"/>
          </a:p>
        </p:txBody>
      </p:sp>
      <p:sp>
        <p:nvSpPr>
          <p:cNvPr id="120" name="Google Shape;120;p8"/>
          <p:cNvSpPr/>
          <p:nvPr/>
        </p:nvSpPr>
        <p:spPr>
          <a:xfrm>
            <a:off x="762000" y="6731000"/>
            <a:ext cx="14732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B8A6"/>
                </a:solidFill>
                <a:latin typeface="Liter"/>
                <a:ea typeface="Liter"/>
                <a:cs typeface="Liter"/>
                <a:sym typeface="Liter"/>
              </a:rPr>
              <a:t>Outcome:</a:t>
            </a: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 A clean dataset ready for robust relationship mapping and accurate DAX measure calculations.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Star Schema Data Model</a:t>
            </a:r>
            <a:endParaRPr b="0" i="0" sz="3600" u="none" cap="none" strike="noStrike"/>
          </a:p>
        </p:txBody>
      </p:sp>
      <p:sp>
        <p:nvSpPr>
          <p:cNvPr id="127" name="Google Shape;127;p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762000" y="1651000"/>
            <a:ext cx="53340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A star-style model guarantees </a:t>
            </a:r>
            <a:r>
              <a:rPr b="1" i="0" lang="en-US" sz="1800" u="none" cap="none" strike="noStrike">
                <a:solidFill>
                  <a:srgbClr val="14B8A6"/>
                </a:solidFill>
                <a:latin typeface="Liter"/>
                <a:ea typeface="Liter"/>
                <a:cs typeface="Liter"/>
                <a:sym typeface="Liter"/>
              </a:rPr>
              <a:t>reliable filtering</a:t>
            </a: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 and consistent DAX context. All relationships are set to Many-to-One.</a:t>
            </a:r>
            <a:endParaRPr b="0" i="0" sz="1600" u="none" cap="none" strike="noStrike"/>
          </a:p>
        </p:txBody>
      </p:sp>
      <p:sp>
        <p:nvSpPr>
          <p:cNvPr id="129" name="Google Shape;129;p9"/>
          <p:cNvSpPr/>
          <p:nvPr/>
        </p:nvSpPr>
        <p:spPr>
          <a:xfrm>
            <a:off x="7112000" y="2540000"/>
            <a:ext cx="3556000" cy="8890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14B8A6"/>
              </a:gs>
              <a:gs pos="100000">
                <a:srgbClr val="0D9488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7112000" y="2540000"/>
            <a:ext cx="3556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Sales Fact Table</a:t>
            </a:r>
            <a:endParaRPr b="0" i="0" sz="1600" u="none" cap="none" strike="noStrike"/>
          </a:p>
        </p:txBody>
      </p:sp>
      <p:sp>
        <p:nvSpPr>
          <p:cNvPr id="131" name="Google Shape;131;p9"/>
          <p:cNvSpPr/>
          <p:nvPr/>
        </p:nvSpPr>
        <p:spPr>
          <a:xfrm>
            <a:off x="6858000" y="4318000"/>
            <a:ext cx="1778000" cy="889000"/>
          </a:xfrm>
          <a:prstGeom prst="roundRect">
            <a:avLst>
              <a:gd fmla="val 10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6858000" y="4318000"/>
            <a:ext cx="1778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Items</a:t>
            </a:r>
            <a:endParaRPr b="0" i="0" sz="1600" u="none" cap="none" strike="noStrike"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Type, Details</a:t>
            </a:r>
            <a:endParaRPr b="0" i="0" sz="1600" u="none" cap="none" strike="noStrike"/>
          </a:p>
        </p:txBody>
      </p:sp>
      <p:sp>
        <p:nvSpPr>
          <p:cNvPr id="133" name="Google Shape;133;p9"/>
          <p:cNvSpPr/>
          <p:nvPr/>
        </p:nvSpPr>
        <p:spPr>
          <a:xfrm>
            <a:off x="8890000" y="4318000"/>
            <a:ext cx="1778000" cy="889000"/>
          </a:xfrm>
          <a:prstGeom prst="roundRect">
            <a:avLst>
              <a:gd fmla="val 10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8890000" y="4318000"/>
            <a:ext cx="1778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Content</a:t>
            </a:r>
            <a:endParaRPr b="0" i="0" sz="1600" u="none" cap="none" strike="noStrike"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Fat/Nutrition</a:t>
            </a:r>
            <a:endParaRPr b="0" i="0" sz="1600" u="none" cap="none" strike="noStrike"/>
          </a:p>
        </p:txBody>
      </p:sp>
      <p:sp>
        <p:nvSpPr>
          <p:cNvPr id="135" name="Google Shape;135;p9"/>
          <p:cNvSpPr/>
          <p:nvPr/>
        </p:nvSpPr>
        <p:spPr>
          <a:xfrm>
            <a:off x="10922000" y="4318000"/>
            <a:ext cx="2032000" cy="889000"/>
          </a:xfrm>
          <a:prstGeom prst="roundRect">
            <a:avLst>
              <a:gd fmla="val 10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10922000" y="4318000"/>
            <a:ext cx="2032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Outlet Info</a:t>
            </a:r>
            <a:endParaRPr b="0" i="0" sz="1600" u="none" cap="none" strike="noStrike"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Size, Year</a:t>
            </a:r>
            <a:endParaRPr b="0" i="0" sz="1600" u="none" cap="none" strike="noStrike"/>
          </a:p>
        </p:txBody>
      </p:sp>
      <p:sp>
        <p:nvSpPr>
          <p:cNvPr id="137" name="Google Shape;137;p9"/>
          <p:cNvSpPr/>
          <p:nvPr/>
        </p:nvSpPr>
        <p:spPr>
          <a:xfrm>
            <a:off x="13208000" y="4318000"/>
            <a:ext cx="1778000" cy="889000"/>
          </a:xfrm>
          <a:prstGeom prst="roundRect">
            <a:avLst>
              <a:gd fmla="val 10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13208000" y="4318000"/>
            <a:ext cx="1778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Location</a:t>
            </a:r>
            <a:endParaRPr b="0" i="0" sz="1600" u="none" cap="none" strike="noStrike"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Tier</a:t>
            </a:r>
            <a:endParaRPr b="0" i="0" sz="1600" u="none" cap="none" strike="noStrike"/>
          </a:p>
        </p:txBody>
      </p:sp>
      <p:cxnSp>
        <p:nvCxnSpPr>
          <p:cNvPr id="139" name="Google Shape;139;p9"/>
          <p:cNvCxnSpPr/>
          <p:nvPr/>
        </p:nvCxnSpPr>
        <p:spPr>
          <a:xfrm>
            <a:off x="7747000" y="3429000"/>
            <a:ext cx="0" cy="889000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9"/>
          <p:cNvCxnSpPr/>
          <p:nvPr/>
        </p:nvCxnSpPr>
        <p:spPr>
          <a:xfrm>
            <a:off x="8890000" y="3429000"/>
            <a:ext cx="0" cy="889000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9"/>
          <p:cNvCxnSpPr/>
          <p:nvPr/>
        </p:nvCxnSpPr>
        <p:spPr>
          <a:xfrm>
            <a:off x="10033000" y="3429000"/>
            <a:ext cx="0" cy="889000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9"/>
          <p:cNvCxnSpPr/>
          <p:nvPr/>
        </p:nvCxnSpPr>
        <p:spPr>
          <a:xfrm>
            <a:off x="11176000" y="3429000"/>
            <a:ext cx="0" cy="889000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9"/>
          <p:cNvSpPr/>
          <p:nvPr/>
        </p:nvSpPr>
        <p:spPr>
          <a:xfrm>
            <a:off x="7112000" y="5715000"/>
            <a:ext cx="8128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Fact table connects to dimension tables via one-to-many relationships, enabling efficient filtering and aggregation across all business dimensions.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Key DAX Measures</a:t>
            </a:r>
            <a:endParaRPr b="0" i="0" sz="3600" u="none" cap="none" strike="noStrike"/>
          </a:p>
        </p:txBody>
      </p:sp>
      <p:sp>
        <p:nvSpPr>
          <p:cNvPr id="150" name="Google Shape;150;p10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762000" y="14605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Translating business questions into scalable, reusable metrics.</a:t>
            </a:r>
            <a:endParaRPr b="0" i="0" sz="2000" u="none" cap="none" strike="noStrike"/>
          </a:p>
        </p:txBody>
      </p:sp>
      <p:sp>
        <p:nvSpPr>
          <p:cNvPr id="152" name="Google Shape;152;p10"/>
          <p:cNvSpPr/>
          <p:nvPr/>
        </p:nvSpPr>
        <p:spPr>
          <a:xfrm>
            <a:off x="762000" y="2159000"/>
            <a:ext cx="3302000" cy="2667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1016000" y="24130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B8A6"/>
                </a:solidFill>
                <a:latin typeface="Liter"/>
                <a:ea typeface="Liter"/>
                <a:cs typeface="Liter"/>
                <a:sym typeface="Liter"/>
              </a:rPr>
              <a:t>Total Sales</a:t>
            </a:r>
            <a:endParaRPr b="0" i="0" sz="1600" u="none" cap="none" strike="noStrike"/>
          </a:p>
        </p:txBody>
      </p:sp>
      <p:sp>
        <p:nvSpPr>
          <p:cNvPr id="154" name="Google Shape;154;p10"/>
          <p:cNvSpPr/>
          <p:nvPr/>
        </p:nvSpPr>
        <p:spPr>
          <a:xfrm>
            <a:off x="1016000" y="2921000"/>
            <a:ext cx="2794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The core top-line metric aggregating all outlet revenue.</a:t>
            </a:r>
            <a:endParaRPr b="0" i="0" sz="1600" u="none" cap="none" strike="noStrike"/>
          </a:p>
        </p:txBody>
      </p:sp>
      <p:sp>
        <p:nvSpPr>
          <p:cNvPr id="155" name="Google Shape;155;p10"/>
          <p:cNvSpPr/>
          <p:nvPr/>
        </p:nvSpPr>
        <p:spPr>
          <a:xfrm>
            <a:off x="4318000" y="2159000"/>
            <a:ext cx="3302000" cy="2667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4572000" y="24130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B5CF6"/>
                </a:solidFill>
                <a:latin typeface="Liter"/>
                <a:ea typeface="Liter"/>
                <a:cs typeface="Liter"/>
                <a:sym typeface="Liter"/>
              </a:rPr>
              <a:t>Avg Sales/Outlet</a:t>
            </a:r>
            <a:endParaRPr b="0" i="0" sz="1600" u="none" cap="none" strike="noStrike"/>
          </a:p>
        </p:txBody>
      </p:sp>
      <p:sp>
        <p:nvSpPr>
          <p:cNvPr id="157" name="Google Shape;157;p10"/>
          <p:cNvSpPr/>
          <p:nvPr/>
        </p:nvSpPr>
        <p:spPr>
          <a:xfrm>
            <a:off x="4572000" y="2921000"/>
            <a:ext cx="2794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Normalizes performance across different tiers and sizes.</a:t>
            </a:r>
            <a:endParaRPr b="0" i="0" sz="1600" u="none" cap="none" strike="noStrike"/>
          </a:p>
        </p:txBody>
      </p:sp>
      <p:sp>
        <p:nvSpPr>
          <p:cNvPr id="158" name="Google Shape;158;p10"/>
          <p:cNvSpPr/>
          <p:nvPr/>
        </p:nvSpPr>
        <p:spPr>
          <a:xfrm>
            <a:off x="762000" y="5080000"/>
            <a:ext cx="3302000" cy="2667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1016000" y="53340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B5CF6"/>
                </a:solidFill>
                <a:latin typeface="Liter"/>
                <a:ea typeface="Liter"/>
                <a:cs typeface="Liter"/>
                <a:sym typeface="Liter"/>
              </a:rPr>
              <a:t>Avg CSAT</a:t>
            </a:r>
            <a:endParaRPr b="0" i="0" sz="1600" u="none" cap="none" strike="noStrike"/>
          </a:p>
        </p:txBody>
      </p:sp>
      <p:sp>
        <p:nvSpPr>
          <p:cNvPr id="160" name="Google Shape;160;p10"/>
          <p:cNvSpPr/>
          <p:nvPr/>
        </p:nvSpPr>
        <p:spPr>
          <a:xfrm>
            <a:off x="1016000" y="5842000"/>
            <a:ext cx="2794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Average rating tracking customer satisfaction.</a:t>
            </a:r>
            <a:endParaRPr b="0" i="0" sz="1600" u="none" cap="none" strike="noStrike"/>
          </a:p>
        </p:txBody>
      </p:sp>
      <p:sp>
        <p:nvSpPr>
          <p:cNvPr id="161" name="Google Shape;161;p10"/>
          <p:cNvSpPr/>
          <p:nvPr/>
        </p:nvSpPr>
        <p:spPr>
          <a:xfrm>
            <a:off x="4318000" y="5080000"/>
            <a:ext cx="3302000" cy="2667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4572000" y="53340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B8A6"/>
                </a:solidFill>
                <a:latin typeface="Liter"/>
                <a:ea typeface="Liter"/>
                <a:cs typeface="Liter"/>
                <a:sym typeface="Liter"/>
              </a:rPr>
              <a:t>Sales per Kg</a:t>
            </a:r>
            <a:endParaRPr b="0" i="0" sz="1600" u="none" cap="none" strike="noStrike"/>
          </a:p>
        </p:txBody>
      </p:sp>
      <p:sp>
        <p:nvSpPr>
          <p:cNvPr id="163" name="Google Shape;163;p10"/>
          <p:cNvSpPr/>
          <p:nvPr/>
        </p:nvSpPr>
        <p:spPr>
          <a:xfrm>
            <a:off x="4572000" y="5842000"/>
            <a:ext cx="2794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An efficiency metric tracking revenue density.</a:t>
            </a:r>
            <a:endParaRPr b="0" i="0" sz="1600" u="none" cap="none" strike="noStrike"/>
          </a:p>
        </p:txBody>
      </p:sp>
      <p:sp>
        <p:nvSpPr>
          <p:cNvPr id="164" name="Google Shape;164;p10"/>
          <p:cNvSpPr/>
          <p:nvPr/>
        </p:nvSpPr>
        <p:spPr>
          <a:xfrm>
            <a:off x="8382000" y="2159000"/>
            <a:ext cx="7112000" cy="5588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8763000" y="2540000"/>
            <a:ext cx="2032000" cy="1270000"/>
          </a:xfrm>
          <a:prstGeom prst="roundRect">
            <a:avLst>
              <a:gd fmla="val 10000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8763000" y="2667000"/>
            <a:ext cx="2032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KPI 1</a:t>
            </a:r>
            <a:endParaRPr b="0" i="0" sz="1600" u="none" cap="none" strike="noStrike"/>
          </a:p>
        </p:txBody>
      </p:sp>
      <p:sp>
        <p:nvSpPr>
          <p:cNvPr id="167" name="Google Shape;167;p10"/>
          <p:cNvSpPr/>
          <p:nvPr/>
        </p:nvSpPr>
        <p:spPr>
          <a:xfrm>
            <a:off x="8763000" y="3048000"/>
            <a:ext cx="203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4B8A6"/>
                </a:solidFill>
                <a:latin typeface="Liter"/>
                <a:ea typeface="Liter"/>
                <a:cs typeface="Liter"/>
                <a:sym typeface="Liter"/>
              </a:rPr>
              <a:t>2.1M</a:t>
            </a:r>
            <a:endParaRPr b="0" i="0" sz="1600" u="none" cap="none" strike="noStrike"/>
          </a:p>
        </p:txBody>
      </p:sp>
      <p:sp>
        <p:nvSpPr>
          <p:cNvPr id="168" name="Google Shape;168;p10"/>
          <p:cNvSpPr/>
          <p:nvPr/>
        </p:nvSpPr>
        <p:spPr>
          <a:xfrm>
            <a:off x="11049000" y="2540000"/>
            <a:ext cx="2032000" cy="1270000"/>
          </a:xfrm>
          <a:prstGeom prst="roundRect">
            <a:avLst>
              <a:gd fmla="val 10000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11049000" y="2667000"/>
            <a:ext cx="2032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KPI 2</a:t>
            </a:r>
            <a:endParaRPr b="0" i="0" sz="1600" u="none" cap="none" strike="noStrike"/>
          </a:p>
        </p:txBody>
      </p:sp>
      <p:sp>
        <p:nvSpPr>
          <p:cNvPr id="170" name="Google Shape;170;p10"/>
          <p:cNvSpPr/>
          <p:nvPr/>
        </p:nvSpPr>
        <p:spPr>
          <a:xfrm>
            <a:off x="11049000" y="3048000"/>
            <a:ext cx="203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8B5CF6"/>
                </a:solidFill>
                <a:latin typeface="Liter"/>
                <a:ea typeface="Liter"/>
                <a:cs typeface="Liter"/>
                <a:sym typeface="Liter"/>
              </a:rPr>
              <a:t>89.4%</a:t>
            </a:r>
            <a:endParaRPr b="0" i="0" sz="1600" u="none" cap="none" strike="noStrike"/>
          </a:p>
        </p:txBody>
      </p:sp>
      <p:sp>
        <p:nvSpPr>
          <p:cNvPr id="171" name="Google Shape;171;p10"/>
          <p:cNvSpPr/>
          <p:nvPr/>
        </p:nvSpPr>
        <p:spPr>
          <a:xfrm>
            <a:off x="13335000" y="2540000"/>
            <a:ext cx="1778000" cy="1270000"/>
          </a:xfrm>
          <a:prstGeom prst="roundRect">
            <a:avLst>
              <a:gd fmla="val 10000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13335000" y="2667000"/>
            <a:ext cx="1778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KPI 3</a:t>
            </a:r>
            <a:endParaRPr b="0" i="0" sz="1600" u="none" cap="none" strike="noStrike"/>
          </a:p>
        </p:txBody>
      </p:sp>
      <p:sp>
        <p:nvSpPr>
          <p:cNvPr id="173" name="Google Shape;173;p10"/>
          <p:cNvSpPr/>
          <p:nvPr/>
        </p:nvSpPr>
        <p:spPr>
          <a:xfrm>
            <a:off x="13335000" y="3048000"/>
            <a:ext cx="177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6B6D4"/>
                </a:solidFill>
                <a:latin typeface="Liter"/>
                <a:ea typeface="Liter"/>
                <a:cs typeface="Liter"/>
                <a:sym typeface="Liter"/>
              </a:rPr>
              <a:t>5.2K</a:t>
            </a:r>
            <a:endParaRPr b="0" i="0" sz="1600" u="none" cap="none" strike="noStrike"/>
          </a:p>
        </p:txBody>
      </p:sp>
      <p:sp>
        <p:nvSpPr>
          <p:cNvPr id="174" name="Google Shape;174;p10"/>
          <p:cNvSpPr/>
          <p:nvPr/>
        </p:nvSpPr>
        <p:spPr>
          <a:xfrm>
            <a:off x="8763000" y="4191000"/>
            <a:ext cx="6350000" cy="3175000"/>
          </a:xfrm>
          <a:prstGeom prst="roundRect">
            <a:avLst>
              <a:gd fmla="val 5000" name="adj"/>
            </a:avLst>
          </a:prstGeom>
          <a:gradFill>
            <a:gsLst>
              <a:gs pos="0">
                <a:srgbClr val="1F2937"/>
              </a:gs>
              <a:gs pos="100000">
                <a:srgbClr val="111827"/>
              </a:gs>
            </a:gsLst>
            <a:lin ang="5400000" scaled="0"/>
          </a:gra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8763000" y="5080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[Dashboard Visualization Preview]</a:t>
            </a:r>
            <a:endParaRPr b="0" i="0" sz="1600" u="none" cap="none" strike="noStrike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Sales trends, outlet performance &amp; CSAT metrics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How to Read the Dashboard</a:t>
            </a:r>
            <a:endParaRPr b="0" i="0" sz="3600" u="none" cap="none" strike="noStrike"/>
          </a:p>
        </p:txBody>
      </p:sp>
      <p:sp>
        <p:nvSpPr>
          <p:cNvPr id="182" name="Google Shape;182;p11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762000" y="1778000"/>
            <a:ext cx="508000" cy="508000"/>
          </a:xfrm>
          <a:prstGeom prst="roundRect">
            <a:avLst>
              <a:gd fmla="val 8000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762000" y="1778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b="0" i="0" sz="1600" u="none" cap="none" strike="noStrike"/>
          </a:p>
        </p:txBody>
      </p:sp>
      <p:sp>
        <p:nvSpPr>
          <p:cNvPr id="185" name="Google Shape;185;p11"/>
          <p:cNvSpPr/>
          <p:nvPr/>
        </p:nvSpPr>
        <p:spPr>
          <a:xfrm>
            <a:off x="1524000" y="17526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Check KPIs</a:t>
            </a:r>
            <a:endParaRPr b="0" i="0" sz="1600" u="none" cap="none" strike="noStrike"/>
          </a:p>
        </p:txBody>
      </p:sp>
      <p:sp>
        <p:nvSpPr>
          <p:cNvPr id="186" name="Google Shape;186;p11"/>
          <p:cNvSpPr/>
          <p:nvPr/>
        </p:nvSpPr>
        <p:spPr>
          <a:xfrm>
            <a:off x="1524000" y="2222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Start with top-line health: Total Sales and Average CSAT.</a:t>
            </a:r>
            <a:endParaRPr b="0" i="0" sz="1600" u="none" cap="none" strike="noStrike"/>
          </a:p>
        </p:txBody>
      </p:sp>
      <p:sp>
        <p:nvSpPr>
          <p:cNvPr id="187" name="Google Shape;187;p11"/>
          <p:cNvSpPr/>
          <p:nvPr/>
        </p:nvSpPr>
        <p:spPr>
          <a:xfrm>
            <a:off x="762000" y="3302000"/>
            <a:ext cx="508000" cy="508000"/>
          </a:xfrm>
          <a:prstGeom prst="roundRect">
            <a:avLst>
              <a:gd fmla="val 8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762000" y="3302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b="0" i="0" sz="1600" u="none" cap="none" strike="noStrike"/>
          </a:p>
        </p:txBody>
      </p:sp>
      <p:sp>
        <p:nvSpPr>
          <p:cNvPr id="189" name="Google Shape;189;p11"/>
          <p:cNvSpPr/>
          <p:nvPr/>
        </p:nvSpPr>
        <p:spPr>
          <a:xfrm>
            <a:off x="1524000" y="32766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Segment</a:t>
            </a:r>
            <a:endParaRPr b="0" i="0" sz="1600" u="none" cap="none" strike="noStrike"/>
          </a:p>
        </p:txBody>
      </p:sp>
      <p:sp>
        <p:nvSpPr>
          <p:cNvPr id="190" name="Google Shape;190;p11"/>
          <p:cNvSpPr/>
          <p:nvPr/>
        </p:nvSpPr>
        <p:spPr>
          <a:xfrm>
            <a:off x="1524000" y="3746500"/>
            <a:ext cx="6096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Filter by Tier or Outlet Type to isolate specific market performance.</a:t>
            </a:r>
            <a:endParaRPr b="0" i="0" sz="1600" u="none" cap="none" strike="noStrike"/>
          </a:p>
        </p:txBody>
      </p:sp>
      <p:sp>
        <p:nvSpPr>
          <p:cNvPr id="191" name="Google Shape;191;p11"/>
          <p:cNvSpPr/>
          <p:nvPr/>
        </p:nvSpPr>
        <p:spPr>
          <a:xfrm>
            <a:off x="762000" y="4826000"/>
            <a:ext cx="508000" cy="508000"/>
          </a:xfrm>
          <a:prstGeom prst="roundRect">
            <a:avLst>
              <a:gd fmla="val 8000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762000" y="4826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1600" u="none" cap="none" strike="noStrike"/>
          </a:p>
        </p:txBody>
      </p:sp>
      <p:sp>
        <p:nvSpPr>
          <p:cNvPr id="193" name="Google Shape;193;p11"/>
          <p:cNvSpPr/>
          <p:nvPr/>
        </p:nvSpPr>
        <p:spPr>
          <a:xfrm>
            <a:off x="1524000" y="48006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Diagnose</a:t>
            </a:r>
            <a:endParaRPr b="0" i="0" sz="1600" u="none" cap="none" strike="noStrike"/>
          </a:p>
        </p:txBody>
      </p:sp>
      <p:sp>
        <p:nvSpPr>
          <p:cNvPr id="194" name="Google Shape;194;p11"/>
          <p:cNvSpPr/>
          <p:nvPr/>
        </p:nvSpPr>
        <p:spPr>
          <a:xfrm>
            <a:off x="1524000" y="527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Identify top categories and spot visibility vs sales outliers.</a:t>
            </a:r>
            <a:endParaRPr b="0" i="0" sz="1600" u="none" cap="none" strike="noStrike"/>
          </a:p>
        </p:txBody>
      </p:sp>
      <p:sp>
        <p:nvSpPr>
          <p:cNvPr id="195" name="Google Shape;195;p11"/>
          <p:cNvSpPr/>
          <p:nvPr/>
        </p:nvSpPr>
        <p:spPr>
          <a:xfrm>
            <a:off x="762000" y="6350000"/>
            <a:ext cx="508000" cy="508000"/>
          </a:xfrm>
          <a:prstGeom prst="roundRect">
            <a:avLst>
              <a:gd fmla="val 8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762000" y="6350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b="0" i="0" sz="1600" u="none" cap="none" strike="noStrike"/>
          </a:p>
        </p:txBody>
      </p:sp>
      <p:sp>
        <p:nvSpPr>
          <p:cNvPr id="197" name="Google Shape;197;p11"/>
          <p:cNvSpPr/>
          <p:nvPr/>
        </p:nvSpPr>
        <p:spPr>
          <a:xfrm>
            <a:off x="1524000" y="63246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Drill-Through</a:t>
            </a:r>
            <a:endParaRPr b="0" i="0" sz="1600" u="none" cap="none" strike="noStrike"/>
          </a:p>
        </p:txBody>
      </p:sp>
      <p:sp>
        <p:nvSpPr>
          <p:cNvPr id="198" name="Google Shape;198;p11"/>
          <p:cNvSpPr/>
          <p:nvPr/>
        </p:nvSpPr>
        <p:spPr>
          <a:xfrm>
            <a:off x="1524000" y="6794500"/>
            <a:ext cx="6096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Go from aggregate strategy down to specific outlet or item detail.</a:t>
            </a:r>
            <a:endParaRPr b="0" i="0" sz="1600" u="none" cap="none" strike="noStrike"/>
          </a:p>
        </p:txBody>
      </p:sp>
      <p:pic>
        <p:nvPicPr>
          <p:cNvPr descr="https://kimi-img.moonshot.cn/pub/slides/okc/5rwapbky7jfau/mnt/agents/images/3_Computer_Screen_Displays_Dashboard.png" id="199" name="Google Shape;199;p11"/>
          <p:cNvPicPr preferRelativeResize="0"/>
          <p:nvPr/>
        </p:nvPicPr>
        <p:blipFill rotWithShape="1">
          <a:blip r:embed="rId3">
            <a:alphaModFix/>
          </a:blip>
          <a:srcRect b="0" l="11135" r="11135" t="0"/>
          <a:stretch/>
        </p:blipFill>
        <p:spPr>
          <a:xfrm>
            <a:off x="8382000" y="1778000"/>
            <a:ext cx="7112000" cy="60960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Live Demo Click Path</a:t>
            </a:r>
            <a:endParaRPr b="0" i="0" sz="3600" u="none" cap="none" strike="noStrike"/>
          </a:p>
        </p:txBody>
      </p:sp>
      <p:sp>
        <p:nvSpPr>
          <p:cNvPr id="206" name="Google Shape;206;p12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762000" y="1651000"/>
            <a:ext cx="4572000" cy="2540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1016000" y="1905000"/>
            <a:ext cx="457200" cy="457200"/>
          </a:xfrm>
          <a:prstGeom prst="roundRect">
            <a:avLst>
              <a:gd fmla="val 8000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1016000" y="1905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b="0" i="0" sz="1600" u="none" cap="none" strike="noStrike"/>
          </a:p>
        </p:txBody>
      </p:sp>
      <p:sp>
        <p:nvSpPr>
          <p:cNvPr id="210" name="Google Shape;210;p12"/>
          <p:cNvSpPr/>
          <p:nvPr/>
        </p:nvSpPr>
        <p:spPr>
          <a:xfrm>
            <a:off x="1651000" y="18796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Baseline</a:t>
            </a:r>
            <a:endParaRPr b="0" i="0" sz="1600" u="none" cap="none" strike="noStrike"/>
          </a:p>
        </p:txBody>
      </p:sp>
      <p:sp>
        <p:nvSpPr>
          <p:cNvPr id="211" name="Google Shape;211;p12"/>
          <p:cNvSpPr/>
          <p:nvPr/>
        </p:nvSpPr>
        <p:spPr>
          <a:xfrm>
            <a:off x="1016000" y="2540000"/>
            <a:ext cx="4064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Show overview KPIs from a neutral/unfiltered state.</a:t>
            </a:r>
            <a:endParaRPr b="0" i="0" sz="1600" u="none" cap="none" strike="noStrike"/>
          </a:p>
        </p:txBody>
      </p:sp>
      <p:cxnSp>
        <p:nvCxnSpPr>
          <p:cNvPr id="212" name="Google Shape;212;p12"/>
          <p:cNvCxnSpPr/>
          <p:nvPr/>
        </p:nvCxnSpPr>
        <p:spPr>
          <a:xfrm>
            <a:off x="5461000" y="2794000"/>
            <a:ext cx="381000" cy="0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13" name="Google Shape;213;p12"/>
          <p:cNvSpPr/>
          <p:nvPr/>
        </p:nvSpPr>
        <p:spPr>
          <a:xfrm>
            <a:off x="5969000" y="1651000"/>
            <a:ext cx="4572000" cy="2540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6223000" y="1905000"/>
            <a:ext cx="457200" cy="457200"/>
          </a:xfrm>
          <a:prstGeom prst="roundRect">
            <a:avLst>
              <a:gd fmla="val 8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6223000" y="1905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b="0" i="0" sz="1600" u="none" cap="none" strike="noStrike"/>
          </a:p>
        </p:txBody>
      </p:sp>
      <p:sp>
        <p:nvSpPr>
          <p:cNvPr id="216" name="Google Shape;216;p12"/>
          <p:cNvSpPr/>
          <p:nvPr/>
        </p:nvSpPr>
        <p:spPr>
          <a:xfrm>
            <a:off x="6858000" y="18796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Slicing</a:t>
            </a:r>
            <a:endParaRPr b="0" i="0" sz="1600" u="none" cap="none" strike="noStrike"/>
          </a:p>
        </p:txBody>
      </p:sp>
      <p:sp>
        <p:nvSpPr>
          <p:cNvPr id="217" name="Google Shape;217;p12"/>
          <p:cNvSpPr/>
          <p:nvPr/>
        </p:nvSpPr>
        <p:spPr>
          <a:xfrm>
            <a:off x="6223000" y="2540000"/>
            <a:ext cx="4064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Click Tier 1 → 2 → 3 to demonstrate dynamic metric changes.</a:t>
            </a:r>
            <a:endParaRPr b="0" i="0" sz="1600" u="none" cap="none" strike="noStrike"/>
          </a:p>
        </p:txBody>
      </p:sp>
      <p:cxnSp>
        <p:nvCxnSpPr>
          <p:cNvPr id="218" name="Google Shape;218;p12"/>
          <p:cNvCxnSpPr/>
          <p:nvPr/>
        </p:nvCxnSpPr>
        <p:spPr>
          <a:xfrm>
            <a:off x="10668000" y="2794000"/>
            <a:ext cx="381000" cy="0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19" name="Google Shape;219;p12"/>
          <p:cNvSpPr/>
          <p:nvPr/>
        </p:nvSpPr>
        <p:spPr>
          <a:xfrm>
            <a:off x="11176000" y="1651000"/>
            <a:ext cx="4318000" cy="2540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11430000" y="1905000"/>
            <a:ext cx="457200" cy="457200"/>
          </a:xfrm>
          <a:prstGeom prst="roundRect">
            <a:avLst>
              <a:gd fmla="val 8000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11430000" y="1905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1600" u="none" cap="none" strike="noStrike"/>
          </a:p>
        </p:txBody>
      </p:sp>
      <p:sp>
        <p:nvSpPr>
          <p:cNvPr id="222" name="Google Shape;222;p12"/>
          <p:cNvSpPr/>
          <p:nvPr/>
        </p:nvSpPr>
        <p:spPr>
          <a:xfrm>
            <a:off x="12065000" y="1879600"/>
            <a:ext cx="317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Cross-Filtering</a:t>
            </a:r>
            <a:endParaRPr b="0" i="0" sz="1600" u="none" cap="none" strike="noStrike"/>
          </a:p>
        </p:txBody>
      </p:sp>
      <p:sp>
        <p:nvSpPr>
          <p:cNvPr id="223" name="Google Shape;223;p12"/>
          <p:cNvSpPr/>
          <p:nvPr/>
        </p:nvSpPr>
        <p:spPr>
          <a:xfrm>
            <a:off x="11430000" y="2540000"/>
            <a:ext cx="3810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Click a specific product category to cross-filter other charts.</a:t>
            </a:r>
            <a:endParaRPr b="0" i="0" sz="1600" u="none" cap="none" strike="noStrike"/>
          </a:p>
        </p:txBody>
      </p:sp>
      <p:cxnSp>
        <p:nvCxnSpPr>
          <p:cNvPr id="224" name="Google Shape;224;p12"/>
          <p:cNvCxnSpPr/>
          <p:nvPr/>
        </p:nvCxnSpPr>
        <p:spPr>
          <a:xfrm>
            <a:off x="13335000" y="4318000"/>
            <a:ext cx="0" cy="381000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25" name="Google Shape;225;p12"/>
          <p:cNvSpPr/>
          <p:nvPr/>
        </p:nvSpPr>
        <p:spPr>
          <a:xfrm>
            <a:off x="762000" y="4826000"/>
            <a:ext cx="4572000" cy="2540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1016000" y="5080000"/>
            <a:ext cx="457200" cy="457200"/>
          </a:xfrm>
          <a:prstGeom prst="roundRect">
            <a:avLst>
              <a:gd fmla="val 8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1016000" y="5080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6</a:t>
            </a:r>
            <a:endParaRPr b="0" i="0" sz="1600" u="none" cap="none" strike="noStrike"/>
          </a:p>
        </p:txBody>
      </p:sp>
      <p:sp>
        <p:nvSpPr>
          <p:cNvPr id="228" name="Google Shape;228;p12"/>
          <p:cNvSpPr/>
          <p:nvPr/>
        </p:nvSpPr>
        <p:spPr>
          <a:xfrm>
            <a:off x="1651000" y="50546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Action &amp; Reset</a:t>
            </a:r>
            <a:endParaRPr b="0" i="0" sz="1600" u="none" cap="none" strike="noStrike"/>
          </a:p>
        </p:txBody>
      </p:sp>
      <p:sp>
        <p:nvSpPr>
          <p:cNvPr id="229" name="Google Shape;229;p12"/>
          <p:cNvSpPr/>
          <p:nvPr/>
        </p:nvSpPr>
        <p:spPr>
          <a:xfrm>
            <a:off x="1016000" y="5715000"/>
            <a:ext cx="4064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Propose an action for the underperformer, then reset all filters.</a:t>
            </a:r>
            <a:endParaRPr b="0" i="0" sz="1600" u="none" cap="none" strike="noStrike"/>
          </a:p>
        </p:txBody>
      </p:sp>
      <p:cxnSp>
        <p:nvCxnSpPr>
          <p:cNvPr id="230" name="Google Shape;230;p12"/>
          <p:cNvCxnSpPr/>
          <p:nvPr/>
        </p:nvCxnSpPr>
        <p:spPr>
          <a:xfrm>
            <a:off x="5461000" y="5969000"/>
            <a:ext cx="381000" cy="0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231" name="Google Shape;231;p12"/>
          <p:cNvSpPr/>
          <p:nvPr/>
        </p:nvSpPr>
        <p:spPr>
          <a:xfrm>
            <a:off x="5969000" y="4826000"/>
            <a:ext cx="4572000" cy="2540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6223000" y="5080000"/>
            <a:ext cx="457200" cy="457200"/>
          </a:xfrm>
          <a:prstGeom prst="roundRect">
            <a:avLst>
              <a:gd fmla="val 8000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6223000" y="5080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5</a:t>
            </a:r>
            <a:endParaRPr b="0" i="0" sz="1600" u="none" cap="none" strike="noStrike"/>
          </a:p>
        </p:txBody>
      </p:sp>
      <p:sp>
        <p:nvSpPr>
          <p:cNvPr id="234" name="Google Shape;234;p12"/>
          <p:cNvSpPr/>
          <p:nvPr/>
        </p:nvSpPr>
        <p:spPr>
          <a:xfrm>
            <a:off x="6858000" y="50546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Drill-Through</a:t>
            </a:r>
            <a:endParaRPr b="0" i="0" sz="1600" u="none" cap="none" strike="noStrike"/>
          </a:p>
        </p:txBody>
      </p:sp>
      <p:sp>
        <p:nvSpPr>
          <p:cNvPr id="235" name="Google Shape;235;p12"/>
          <p:cNvSpPr/>
          <p:nvPr/>
        </p:nvSpPr>
        <p:spPr>
          <a:xfrm>
            <a:off x="6223000" y="5715000"/>
            <a:ext cx="4064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Right-click an outlier to drill into outlet/item details.</a:t>
            </a:r>
            <a:endParaRPr b="0" i="0" sz="1600" u="none" cap="none" strike="noStrike"/>
          </a:p>
        </p:txBody>
      </p:sp>
      <p:cxnSp>
        <p:nvCxnSpPr>
          <p:cNvPr id="236" name="Google Shape;236;p12"/>
          <p:cNvCxnSpPr/>
          <p:nvPr/>
        </p:nvCxnSpPr>
        <p:spPr>
          <a:xfrm>
            <a:off x="10668000" y="5969000"/>
            <a:ext cx="381000" cy="0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237" name="Google Shape;237;p12"/>
          <p:cNvSpPr/>
          <p:nvPr/>
        </p:nvSpPr>
        <p:spPr>
          <a:xfrm>
            <a:off x="11176000" y="4826000"/>
            <a:ext cx="4318000" cy="2540000"/>
          </a:xfrm>
          <a:prstGeom prst="roundRect">
            <a:avLst>
              <a:gd fmla="val 8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11430000" y="5080000"/>
            <a:ext cx="457200" cy="457200"/>
          </a:xfrm>
          <a:prstGeom prst="roundRect">
            <a:avLst>
              <a:gd fmla="val 8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11430000" y="5080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b="0" i="0" sz="1600" u="none" cap="none" strike="noStrike"/>
          </a:p>
        </p:txBody>
      </p:sp>
      <p:sp>
        <p:nvSpPr>
          <p:cNvPr id="240" name="Google Shape;240;p12"/>
          <p:cNvSpPr/>
          <p:nvPr/>
        </p:nvSpPr>
        <p:spPr>
          <a:xfrm>
            <a:off x="12065000" y="5054600"/>
            <a:ext cx="317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Comparison</a:t>
            </a:r>
            <a:endParaRPr b="0" i="0" sz="1600" u="none" cap="none" strike="noStrike"/>
          </a:p>
        </p:txBody>
      </p:sp>
      <p:sp>
        <p:nvSpPr>
          <p:cNvPr id="241" name="Google Shape;241;p12"/>
          <p:cNvSpPr/>
          <p:nvPr/>
        </p:nvSpPr>
        <p:spPr>
          <a:xfrm>
            <a:off x="11430000" y="5715000"/>
            <a:ext cx="3810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Toggle 'Fat Content' to compare Regular vs Low Fat metrics.</a:t>
            </a:r>
            <a:endParaRPr b="0" i="0" sz="1600" u="none" cap="none" strike="noStrike"/>
          </a:p>
        </p:txBody>
      </p:sp>
      <p:cxnSp>
        <p:nvCxnSpPr>
          <p:cNvPr id="242" name="Google Shape;242;p12"/>
          <p:cNvCxnSpPr/>
          <p:nvPr/>
        </p:nvCxnSpPr>
        <p:spPr>
          <a:xfrm>
            <a:off x="3048000" y="4318000"/>
            <a:ext cx="0" cy="381000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"/>
          <p:cNvSpPr/>
          <p:nvPr/>
        </p:nvSpPr>
        <p:spPr>
          <a:xfrm>
            <a:off x="1778000" y="2540000"/>
            <a:ext cx="12700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Turning Data into Action</a:t>
            </a:r>
            <a:endParaRPr b="0" i="0" sz="3600" u="none" cap="none" strike="noStrike"/>
          </a:p>
        </p:txBody>
      </p:sp>
      <p:sp>
        <p:nvSpPr>
          <p:cNvPr id="249" name="Google Shape;249;p13"/>
          <p:cNvSpPr/>
          <p:nvPr/>
        </p:nvSpPr>
        <p:spPr>
          <a:xfrm>
            <a:off x="7366000" y="3619500"/>
            <a:ext cx="1524000" cy="50800"/>
          </a:xfrm>
          <a:prstGeom prst="rect">
            <a:avLst/>
          </a:prstGeom>
          <a:gradFill>
            <a:gsLst>
              <a:gs pos="0">
                <a:srgbClr val="14B8A6"/>
              </a:gs>
              <a:gs pos="100000">
                <a:srgbClr val="8B5CF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2413000" y="4064000"/>
            <a:ext cx="1143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By connecting </a:t>
            </a:r>
            <a:r>
              <a:rPr b="1" i="0" lang="en-US" sz="2000" u="none" cap="none" strike="noStrike">
                <a:solidFill>
                  <a:srgbClr val="14B8A6"/>
                </a:solidFill>
                <a:latin typeface="Liter"/>
                <a:ea typeface="Liter"/>
                <a:cs typeface="Liter"/>
                <a:sym typeface="Liter"/>
              </a:rPr>
              <a:t>sales metrics</a:t>
            </a:r>
            <a:r>
              <a:rPr b="0" i="0" lang="en-US" sz="20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 with </a:t>
            </a:r>
            <a:r>
              <a:rPr b="1" i="0" lang="en-US" sz="2000" u="none" cap="none" strike="noStrike">
                <a:solidFill>
                  <a:srgbClr val="8B5CF6"/>
                </a:solidFill>
                <a:latin typeface="Liter"/>
                <a:ea typeface="Liter"/>
                <a:cs typeface="Liter"/>
                <a:sym typeface="Liter"/>
              </a:rPr>
              <a:t>segment attributes</a:t>
            </a:r>
            <a:r>
              <a:rPr b="0" i="0" lang="en-US" sz="20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, Blinkit can optimize assortment, improve visibility strategy, and drive profitability.</a:t>
            </a:r>
            <a:endParaRPr b="0" i="0" sz="1600" u="none" cap="none" strike="noStrike"/>
          </a:p>
        </p:txBody>
      </p:sp>
      <p:sp>
        <p:nvSpPr>
          <p:cNvPr id="251" name="Google Shape;251;p13"/>
          <p:cNvSpPr/>
          <p:nvPr/>
        </p:nvSpPr>
        <p:spPr>
          <a:xfrm>
            <a:off x="5588000" y="6096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B8A6"/>
                </a:solidFill>
                <a:latin typeface="Liter"/>
                <a:ea typeface="Liter"/>
                <a:cs typeface="Liter"/>
                <a:sym typeface="Liter"/>
              </a:rPr>
              <a:t>Next Steps</a:t>
            </a:r>
            <a:endParaRPr b="0" i="0" sz="1600" u="none" cap="none" strike="noStrike"/>
          </a:p>
        </p:txBody>
      </p:sp>
      <p:sp>
        <p:nvSpPr>
          <p:cNvPr id="252" name="Google Shape;252;p13"/>
          <p:cNvSpPr/>
          <p:nvPr/>
        </p:nvSpPr>
        <p:spPr>
          <a:xfrm>
            <a:off x="4318000" y="66040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Liter"/>
                <a:ea typeface="Liter"/>
                <a:cs typeface="Liter"/>
                <a:sym typeface="Liter"/>
              </a:rPr>
              <a:t>Time intelligence (YoY/MoM) &amp; target benchmarking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